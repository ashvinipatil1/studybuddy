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6"/>
  </p:notesMasterIdLst>
  <p:sldIdLst>
    <p:sldId id="256" r:id="rId5"/>
    <p:sldId id="1249" r:id="rId6"/>
    <p:sldId id="1085" r:id="rId7"/>
    <p:sldId id="352" r:id="rId8"/>
    <p:sldId id="1251" r:id="rId9"/>
    <p:sldId id="1253" r:id="rId10"/>
    <p:sldId id="1259" r:id="rId11"/>
    <p:sldId id="1258" r:id="rId12"/>
    <p:sldId id="1256" r:id="rId13"/>
    <p:sldId id="1254" r:id="rId14"/>
    <p:sldId id="1255" r:id="rId15"/>
  </p:sldIdLst>
  <p:sldSz cx="12192000" cy="6858000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8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558"/>
    <a:srgbClr val="034977"/>
    <a:srgbClr val="D5E3FF"/>
    <a:srgbClr val="FFE500"/>
    <a:srgbClr val="B9D0FF"/>
    <a:srgbClr val="045890"/>
    <a:srgbClr val="0000FF"/>
    <a:srgbClr val="EDE2EE"/>
    <a:srgbClr val="1B35B5"/>
    <a:srgbClr val="667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EBA1B-3FB7-499C-898C-C34C109DF221}" v="16" dt="2026-02-25T08:58:07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>
        <p:scale>
          <a:sx n="66" d="100"/>
          <a:sy n="66" d="100"/>
        </p:scale>
        <p:origin x="475" y="413"/>
      </p:cViewPr>
      <p:guideLst>
        <p:guide orient="horz" pos="784"/>
        <p:guide pos="192"/>
        <p:guide orient="horz" pos="1080"/>
        <p:guide orient="horz" pos="2160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vini Patil" userId="f3639089dc0163c3" providerId="LiveId" clId="{2CA1BCA1-B082-43A4-B881-3ABF4B76BF4F}"/>
    <pc:docChg chg="undo custSel addSld delSld modSld sldOrd">
      <pc:chgData name="Ashvini Patil" userId="f3639089dc0163c3" providerId="LiveId" clId="{2CA1BCA1-B082-43A4-B881-3ABF4B76BF4F}" dt="2026-02-25T10:07:25.469" v="132" actId="20577"/>
      <pc:docMkLst>
        <pc:docMk/>
      </pc:docMkLst>
      <pc:sldChg chg="modSp mod">
        <pc:chgData name="Ashvini Patil" userId="f3639089dc0163c3" providerId="LiveId" clId="{2CA1BCA1-B082-43A4-B881-3ABF4B76BF4F}" dt="2026-02-25T10:06:50.553" v="104" actId="20577"/>
        <pc:sldMkLst>
          <pc:docMk/>
          <pc:sldMk cId="3042168897" sldId="352"/>
        </pc:sldMkLst>
        <pc:spChg chg="mod">
          <ac:chgData name="Ashvini Patil" userId="f3639089dc0163c3" providerId="LiveId" clId="{2CA1BCA1-B082-43A4-B881-3ABF4B76BF4F}" dt="2026-02-25T10:06:50.553" v="104" actId="20577"/>
          <ac:spMkLst>
            <pc:docMk/>
            <pc:sldMk cId="3042168897" sldId="352"/>
            <ac:spMk id="2" creationId="{07E1EAD1-F835-6956-77CD-17363121C17E}"/>
          </ac:spMkLst>
        </pc:spChg>
      </pc:sldChg>
      <pc:sldChg chg="modSp mod">
        <pc:chgData name="Ashvini Patil" userId="f3639089dc0163c3" providerId="LiveId" clId="{2CA1BCA1-B082-43A4-B881-3ABF4B76BF4F}" dt="2026-02-25T08:19:10.392" v="89" actId="1035"/>
        <pc:sldMkLst>
          <pc:docMk/>
          <pc:sldMk cId="4128065127" sldId="1253"/>
        </pc:sldMkLst>
        <pc:spChg chg="mod">
          <ac:chgData name="Ashvini Patil" userId="f3639089dc0163c3" providerId="LiveId" clId="{2CA1BCA1-B082-43A4-B881-3ABF4B76BF4F}" dt="2026-02-25T08:18:54.643" v="66" actId="1076"/>
          <ac:spMkLst>
            <pc:docMk/>
            <pc:sldMk cId="4128065127" sldId="1253"/>
            <ac:spMk id="2" creationId="{82D1C0F7-5439-C10A-DAC8-5D31D49B37D4}"/>
          </ac:spMkLst>
        </pc:spChg>
        <pc:spChg chg="mod">
          <ac:chgData name="Ashvini Patil" userId="f3639089dc0163c3" providerId="LiveId" clId="{2CA1BCA1-B082-43A4-B881-3ABF4B76BF4F}" dt="2026-02-25T08:19:10.392" v="89" actId="1035"/>
          <ac:spMkLst>
            <pc:docMk/>
            <pc:sldMk cId="4128065127" sldId="1253"/>
            <ac:spMk id="5" creationId="{BB32207D-E633-2238-4AB4-994F91B4F563}"/>
          </ac:spMkLst>
        </pc:spChg>
      </pc:sldChg>
      <pc:sldChg chg="modSp mod">
        <pc:chgData name="Ashvini Patil" userId="f3639089dc0163c3" providerId="LiveId" clId="{2CA1BCA1-B082-43A4-B881-3ABF4B76BF4F}" dt="2026-02-25T10:07:25.469" v="132" actId="20577"/>
        <pc:sldMkLst>
          <pc:docMk/>
          <pc:sldMk cId="2357231762" sldId="1254"/>
        </pc:sldMkLst>
        <pc:spChg chg="mod">
          <ac:chgData name="Ashvini Patil" userId="f3639089dc0163c3" providerId="LiveId" clId="{2CA1BCA1-B082-43A4-B881-3ABF4B76BF4F}" dt="2026-02-25T10:07:25.469" v="132" actId="20577"/>
          <ac:spMkLst>
            <pc:docMk/>
            <pc:sldMk cId="2357231762" sldId="1254"/>
            <ac:spMk id="2" creationId="{821C836B-22BA-038A-0590-91E5811C168C}"/>
          </ac:spMkLst>
        </pc:spChg>
      </pc:sldChg>
      <pc:sldChg chg="modSp mod">
        <pc:chgData name="Ashvini Patil" userId="f3639089dc0163c3" providerId="LiveId" clId="{2CA1BCA1-B082-43A4-B881-3ABF4B76BF4F}" dt="2026-02-25T10:07:01.332" v="111" actId="20577"/>
        <pc:sldMkLst>
          <pc:docMk/>
          <pc:sldMk cId="2985587088" sldId="1256"/>
        </pc:sldMkLst>
        <pc:spChg chg="mod">
          <ac:chgData name="Ashvini Patil" userId="f3639089dc0163c3" providerId="LiveId" clId="{2CA1BCA1-B082-43A4-B881-3ABF4B76BF4F}" dt="2026-02-25T10:07:01.332" v="111" actId="20577"/>
          <ac:spMkLst>
            <pc:docMk/>
            <pc:sldMk cId="2985587088" sldId="1256"/>
            <ac:spMk id="15" creationId="{EA880C01-AD21-FEB5-3ED1-CDE4E6D1D92A}"/>
          </ac:spMkLst>
        </pc:spChg>
      </pc:sldChg>
      <pc:sldChg chg="addSp delSp modSp del mod">
        <pc:chgData name="Ashvini Patil" userId="f3639089dc0163c3" providerId="LiveId" clId="{2CA1BCA1-B082-43A4-B881-3ABF4B76BF4F}" dt="2026-02-25T08:18:39.434" v="64" actId="47"/>
        <pc:sldMkLst>
          <pc:docMk/>
          <pc:sldMk cId="2246526273" sldId="1257"/>
        </pc:sldMkLst>
        <pc:spChg chg="mod">
          <ac:chgData name="Ashvini Patil" userId="f3639089dc0163c3" providerId="LiveId" clId="{2CA1BCA1-B082-43A4-B881-3ABF4B76BF4F}" dt="2026-02-25T07:54:55.183" v="24" actId="1036"/>
          <ac:spMkLst>
            <pc:docMk/>
            <pc:sldMk cId="2246526273" sldId="1257"/>
            <ac:spMk id="9" creationId="{3D6620D1-29D0-EE60-314C-2CDF106888A6}"/>
          </ac:spMkLst>
        </pc:spChg>
        <pc:cxnChg chg="add del">
          <ac:chgData name="Ashvini Patil" userId="f3639089dc0163c3" providerId="LiveId" clId="{2CA1BCA1-B082-43A4-B881-3ABF4B76BF4F}" dt="2026-02-25T07:54:26.899" v="2" actId="11529"/>
          <ac:cxnSpMkLst>
            <pc:docMk/>
            <pc:sldMk cId="2246526273" sldId="1257"/>
            <ac:cxnSpMk id="3" creationId="{FB5F54A1-E4A2-0835-03E4-0378003DB409}"/>
          </ac:cxnSpMkLst>
        </pc:cxnChg>
      </pc:sldChg>
      <pc:sldChg chg="addSp delSp modSp mod">
        <pc:chgData name="Ashvini Patil" userId="f3639089dc0163c3" providerId="LiveId" clId="{2CA1BCA1-B082-43A4-B881-3ABF4B76BF4F}" dt="2026-02-25T08:59:15.392" v="98" actId="1076"/>
        <pc:sldMkLst>
          <pc:docMk/>
          <pc:sldMk cId="348389576" sldId="1258"/>
        </pc:sldMkLst>
        <pc:spChg chg="add">
          <ac:chgData name="Ashvini Patil" userId="f3639089dc0163c3" providerId="LiveId" clId="{2CA1BCA1-B082-43A4-B881-3ABF4B76BF4F}" dt="2026-02-25T08:58:06.634" v="91"/>
          <ac:spMkLst>
            <pc:docMk/>
            <pc:sldMk cId="348389576" sldId="1258"/>
            <ac:spMk id="2" creationId="{2CE387D3-2C4F-CE5C-BD57-D95BFA899A25}"/>
          </ac:spMkLst>
        </pc:spChg>
        <pc:picChg chg="add mod modCrop">
          <ac:chgData name="Ashvini Patil" userId="f3639089dc0163c3" providerId="LiveId" clId="{2CA1BCA1-B082-43A4-B881-3ABF4B76BF4F}" dt="2026-02-25T08:59:15.392" v="98" actId="1076"/>
          <ac:picMkLst>
            <pc:docMk/>
            <pc:sldMk cId="348389576" sldId="1258"/>
            <ac:picMk id="4" creationId="{C93358D5-2B24-1819-D3C1-A371C14A0E89}"/>
          </ac:picMkLst>
        </pc:picChg>
        <pc:picChg chg="del">
          <ac:chgData name="Ashvini Patil" userId="f3639089dc0163c3" providerId="LiveId" clId="{2CA1BCA1-B082-43A4-B881-3ABF4B76BF4F}" dt="2026-02-25T08:58:05.489" v="90" actId="478"/>
          <ac:picMkLst>
            <pc:docMk/>
            <pc:sldMk cId="348389576" sldId="1258"/>
            <ac:picMk id="14" creationId="{15959631-73D7-53C5-1676-10866F979A7E}"/>
          </ac:picMkLst>
        </pc:picChg>
      </pc:sldChg>
      <pc:sldChg chg="addSp modSp new mod ord">
        <pc:chgData name="Ashvini Patil" userId="f3639089dc0163c3" providerId="LiveId" clId="{2CA1BCA1-B082-43A4-B881-3ABF4B76BF4F}" dt="2026-02-25T07:58:07.950" v="63" actId="1076"/>
        <pc:sldMkLst>
          <pc:docMk/>
          <pc:sldMk cId="2169539491" sldId="1259"/>
        </pc:sldMkLst>
        <pc:spChg chg="add mod">
          <ac:chgData name="Ashvini Patil" userId="f3639089dc0163c3" providerId="LiveId" clId="{2CA1BCA1-B082-43A4-B881-3ABF4B76BF4F}" dt="2026-02-25T07:55:10.183" v="28"/>
          <ac:spMkLst>
            <pc:docMk/>
            <pc:sldMk cId="2169539491" sldId="1259"/>
            <ac:spMk id="2" creationId="{69442465-7BF6-ACA2-5CA7-3F74744C5E8B}"/>
          </ac:spMkLst>
        </pc:spChg>
        <pc:spChg chg="add mod">
          <ac:chgData name="Ashvini Patil" userId="f3639089dc0163c3" providerId="LiveId" clId="{2CA1BCA1-B082-43A4-B881-3ABF4B76BF4F}" dt="2026-02-25T07:55:16.586" v="29"/>
          <ac:spMkLst>
            <pc:docMk/>
            <pc:sldMk cId="2169539491" sldId="1259"/>
            <ac:spMk id="3" creationId="{05D67C32-9B17-2A6F-E2B5-AFA1B0FA22D2}"/>
          </ac:spMkLst>
        </pc:spChg>
        <pc:spChg chg="add mod">
          <ac:chgData name="Ashvini Patil" userId="f3639089dc0163c3" providerId="LiveId" clId="{2CA1BCA1-B082-43A4-B881-3ABF4B76BF4F}" dt="2026-02-25T07:55:23.534" v="30"/>
          <ac:spMkLst>
            <pc:docMk/>
            <pc:sldMk cId="2169539491" sldId="1259"/>
            <ac:spMk id="4" creationId="{AC61C09B-76C6-8E2F-B896-1370313704DC}"/>
          </ac:spMkLst>
        </pc:spChg>
        <pc:spChg chg="add mod">
          <ac:chgData name="Ashvini Patil" userId="f3639089dc0163c3" providerId="LiveId" clId="{2CA1BCA1-B082-43A4-B881-3ABF4B76BF4F}" dt="2026-02-25T07:56:32.144" v="42" actId="20577"/>
          <ac:spMkLst>
            <pc:docMk/>
            <pc:sldMk cId="2169539491" sldId="1259"/>
            <ac:spMk id="5" creationId="{0360308A-EAB1-E2B5-8ACF-1DB4007C40B3}"/>
          </ac:spMkLst>
        </pc:spChg>
        <pc:cxnChg chg="add mod">
          <ac:chgData name="Ashvini Patil" userId="f3639089dc0163c3" providerId="LiveId" clId="{2CA1BCA1-B082-43A4-B881-3ABF4B76BF4F}" dt="2026-02-25T07:56:45.422" v="44" actId="1076"/>
          <ac:cxnSpMkLst>
            <pc:docMk/>
            <pc:sldMk cId="2169539491" sldId="1259"/>
            <ac:cxnSpMk id="6" creationId="{E812A942-A006-5508-FEA8-1D1FE8D73E71}"/>
          </ac:cxnSpMkLst>
        </pc:cxnChg>
        <pc:cxnChg chg="add mod">
          <ac:chgData name="Ashvini Patil" userId="f3639089dc0163c3" providerId="LiveId" clId="{2CA1BCA1-B082-43A4-B881-3ABF4B76BF4F}" dt="2026-02-25T07:56:59.302" v="46" actId="1076"/>
          <ac:cxnSpMkLst>
            <pc:docMk/>
            <pc:sldMk cId="2169539491" sldId="1259"/>
            <ac:cxnSpMk id="7" creationId="{77FACBBD-2B68-9D55-A108-6AEBB4181547}"/>
          </ac:cxnSpMkLst>
        </pc:cxnChg>
        <pc:cxnChg chg="add mod">
          <ac:chgData name="Ashvini Patil" userId="f3639089dc0163c3" providerId="LiveId" clId="{2CA1BCA1-B082-43A4-B881-3ABF4B76BF4F}" dt="2026-02-25T07:57:54.125" v="61" actId="1037"/>
          <ac:cxnSpMkLst>
            <pc:docMk/>
            <pc:sldMk cId="2169539491" sldId="1259"/>
            <ac:cxnSpMk id="8" creationId="{9B31A20A-792F-2823-2377-BBF55D9211B7}"/>
          </ac:cxnSpMkLst>
        </pc:cxnChg>
        <pc:cxnChg chg="add mod">
          <ac:chgData name="Ashvini Patil" userId="f3639089dc0163c3" providerId="LiveId" clId="{2CA1BCA1-B082-43A4-B881-3ABF4B76BF4F}" dt="2026-02-25T07:57:46.255" v="58" actId="1037"/>
          <ac:cxnSpMkLst>
            <pc:docMk/>
            <pc:sldMk cId="2169539491" sldId="1259"/>
            <ac:cxnSpMk id="9" creationId="{2A1DB21B-33BB-C9A4-7497-C3D9FC824E50}"/>
          </ac:cxnSpMkLst>
        </pc:cxnChg>
        <pc:cxnChg chg="add mod">
          <ac:chgData name="Ashvini Patil" userId="f3639089dc0163c3" providerId="LiveId" clId="{2CA1BCA1-B082-43A4-B881-3ABF4B76BF4F}" dt="2026-02-25T07:57:43.126" v="57" actId="1076"/>
          <ac:cxnSpMkLst>
            <pc:docMk/>
            <pc:sldMk cId="2169539491" sldId="1259"/>
            <ac:cxnSpMk id="10" creationId="{DED14C93-27F0-307D-695B-3694D38B3FD9}"/>
          </ac:cxnSpMkLst>
        </pc:cxnChg>
        <pc:cxnChg chg="add mod">
          <ac:chgData name="Ashvini Patil" userId="f3639089dc0163c3" providerId="LiveId" clId="{2CA1BCA1-B082-43A4-B881-3ABF4B76BF4F}" dt="2026-02-25T07:57:48.584" v="59" actId="1037"/>
          <ac:cxnSpMkLst>
            <pc:docMk/>
            <pc:sldMk cId="2169539491" sldId="1259"/>
            <ac:cxnSpMk id="11" creationId="{68D25F49-837E-F30A-6448-6C8B966D7BE2}"/>
          </ac:cxnSpMkLst>
        </pc:cxnChg>
        <pc:cxnChg chg="add mod">
          <ac:chgData name="Ashvini Patil" userId="f3639089dc0163c3" providerId="LiveId" clId="{2CA1BCA1-B082-43A4-B881-3ABF4B76BF4F}" dt="2026-02-25T07:58:07.950" v="63" actId="1076"/>
          <ac:cxnSpMkLst>
            <pc:docMk/>
            <pc:sldMk cId="2169539491" sldId="1259"/>
            <ac:cxnSpMk id="13" creationId="{A649633D-1D24-1117-9C07-F8CBB8E9570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lang="en-IN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---------------------------------------------------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0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this slide speaker will be introducing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the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program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and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its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outcomes.  The speaker will introduce himself in brief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8CA52B4-AFE7-436D-10A5-33BBC2F8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0EAD850-4C0A-4D1F-54F8-C5F959A15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11DB8B2-672C-460F-29D3-0F2797996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303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E1FC1B1-B44F-F795-8CE0-8A1E5FA3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6FCACB7-6330-511A-DC41-2FCC5B286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3B2F108-3E8E-8CB3-D39C-2E5E2EE72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15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76A3C39-E505-849D-072B-5A72E5B2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4CA75921-0A6B-4147-FFE3-27787B5DA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F44E0A6D-AE05-66D4-3151-9ADBBF81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352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89DB2EC-5E59-1C9C-B257-47839B4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21CF6DE-F83D-DF02-0EA6-49693349C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8D50153A-7825-FF11-BF01-858C9847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030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a red and blue line&#10;&#10;Description automatically generated">
            <a:extLst>
              <a:ext uri="{FF2B5EF4-FFF2-40B4-BE49-F238E27FC236}">
                <a16:creationId xmlns:a16="http://schemas.microsoft.com/office/drawing/2014/main" id="{9CA50098-7D03-1836-41AA-E168C007D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82037" b="14815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AFEAB-13E2-B4AA-FD33-8FE461808E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0464800" cy="666750"/>
          </a:xfrm>
          <a:prstGeom prst="rect">
            <a:avLst/>
          </a:prstGeom>
        </p:spPr>
      </p:pic>
      <p:pic>
        <p:nvPicPr>
          <p:cNvPr id="20" name="Picture 19" descr="A black screen with red and blue stripes&#10;&#10;Description automatically generated">
            <a:extLst>
              <a:ext uri="{FF2B5EF4-FFF2-40B4-BE49-F238E27FC236}">
                <a16:creationId xmlns:a16="http://schemas.microsoft.com/office/drawing/2014/main" id="{11971837-D8B7-1C36-5140-3CE05FA77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2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ite.org/" TargetMode="External"/><Relationship Id="rId3" Type="http://schemas.openxmlformats.org/officeDocument/2006/relationships/notesSlide" Target="../notesSlides/notesSlide7.xml"/><Relationship Id="rId7" Type="http://schemas.openxmlformats.org/officeDocument/2006/relationships/hyperlink" Target="https://docs.python.org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hyperlink" Target="https://pymupdf.readthedocs.io/" TargetMode="External"/><Relationship Id="rId5" Type="http://schemas.openxmlformats.org/officeDocument/2006/relationships/hyperlink" Target="https://console.groq.com/docs" TargetMode="External"/><Relationship Id="rId4" Type="http://schemas.openxmlformats.org/officeDocument/2006/relationships/hyperlink" Target="https://docs.djangoprojec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1970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3" name="Freeform 3"/>
          <p:cNvSpPr/>
          <p:nvPr/>
        </p:nvSpPr>
        <p:spPr>
          <a:xfrm>
            <a:off x="0" y="6660927"/>
            <a:ext cx="12192001" cy="197073"/>
          </a:xfrm>
          <a:custGeom>
            <a:avLst/>
            <a:gdLst/>
            <a:ahLst/>
            <a:cxnLst/>
            <a:rect l="l" t="t" r="r" b="b"/>
            <a:pathLst>
              <a:path w="17979397" h="921444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4" name="Freeform 4"/>
          <p:cNvSpPr/>
          <p:nvPr/>
        </p:nvSpPr>
        <p:spPr>
          <a:xfrm flipV="1">
            <a:off x="0" y="4401147"/>
            <a:ext cx="2529579" cy="2456853"/>
          </a:xfrm>
          <a:custGeom>
            <a:avLst/>
            <a:gdLst/>
            <a:ahLst/>
            <a:cxnLst/>
            <a:rect l="l" t="t" r="r" b="b"/>
            <a:pathLst>
              <a:path w="3794368" h="3685280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5" name="Freeform 5"/>
          <p:cNvSpPr/>
          <p:nvPr/>
        </p:nvSpPr>
        <p:spPr>
          <a:xfrm flipH="1">
            <a:off x="5301756" y="0"/>
            <a:ext cx="6890244" cy="6692149"/>
          </a:xfrm>
          <a:custGeom>
            <a:avLst/>
            <a:gdLst/>
            <a:ahLst/>
            <a:cxnLst/>
            <a:rect l="l" t="t" r="r" b="b"/>
            <a:pathLst>
              <a:path w="10335366" h="10038224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grpSp>
        <p:nvGrpSpPr>
          <p:cNvPr id="6" name="Group 6"/>
          <p:cNvGrpSpPr/>
          <p:nvPr/>
        </p:nvGrpSpPr>
        <p:grpSpPr>
          <a:xfrm>
            <a:off x="6007852" y="391844"/>
            <a:ext cx="6074313" cy="6074312"/>
            <a:chOff x="-188667" y="-69445"/>
            <a:chExt cx="1507375" cy="1507374"/>
          </a:xfrm>
        </p:grpSpPr>
        <p:sp>
          <p:nvSpPr>
            <p:cNvPr id="7" name="Freeform 7"/>
            <p:cNvSpPr/>
            <p:nvPr/>
          </p:nvSpPr>
          <p:spPr>
            <a:xfrm>
              <a:off x="-188667" y="-69445"/>
              <a:ext cx="1507375" cy="1507374"/>
            </a:xfrm>
            <a:prstGeom prst="ellipse">
              <a:avLst/>
            </a:prstGeom>
            <a:blipFill>
              <a:blip r:embed="rId6"/>
              <a:srcRect/>
              <a:stretch>
                <a:fillRect l="-78487" t="-9550" b="-9550"/>
              </a:stretch>
            </a:blipFill>
          </p:spPr>
          <p:txBody>
            <a:bodyPr/>
            <a:lstStyle/>
            <a:p>
              <a:endParaRPr lang="en-IN" sz="1245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FAFDC7-5FD4-AA0C-2C85-1B59ED6CD792}"/>
              </a:ext>
            </a:extLst>
          </p:cNvPr>
          <p:cNvSpPr txBox="1"/>
          <p:nvPr/>
        </p:nvSpPr>
        <p:spPr>
          <a:xfrm>
            <a:off x="358892" y="2584502"/>
            <a:ext cx="564895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23558"/>
                </a:solidFill>
                <a:latin typeface="+mj-lt"/>
              </a:rPr>
              <a:t>Full Stack Web Development with AI Tools</a:t>
            </a:r>
            <a:endParaRPr lang="en-US" sz="3600" b="1" dirty="0">
              <a:solidFill>
                <a:srgbClr val="023558"/>
              </a:solidFill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4F00DD0-EB7B-EBC0-7FBE-8E865107A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61" y="388408"/>
            <a:ext cx="1926070" cy="626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315E8-A49C-3C13-082D-0A9135A687F9}"/>
              </a:ext>
            </a:extLst>
          </p:cNvPr>
          <p:cNvSpPr txBox="1"/>
          <p:nvPr/>
        </p:nvSpPr>
        <p:spPr>
          <a:xfrm>
            <a:off x="992572" y="4519689"/>
            <a:ext cx="42734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i="1" dirty="0">
                <a:solidFill>
                  <a:srgbClr val="023558"/>
                </a:solidFill>
              </a:rPr>
              <a:t>Team Details – NG_CP_Team_547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10590-615E-A8EC-A0AB-F60F9F138367}"/>
              </a:ext>
            </a:extLst>
          </p:cNvPr>
          <p:cNvSpPr txBox="1"/>
          <p:nvPr/>
        </p:nvSpPr>
        <p:spPr>
          <a:xfrm>
            <a:off x="2271727" y="4934278"/>
            <a:ext cx="2676981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dirty="0">
                <a:solidFill>
                  <a:srgbClr val="023558"/>
                </a:solidFill>
              </a:rPr>
              <a:t>Name: Ashvini Patil</a:t>
            </a:r>
          </a:p>
          <a:p>
            <a:r>
              <a:rPr lang="en-US" sz="1400" i="1" dirty="0">
                <a:solidFill>
                  <a:srgbClr val="023558"/>
                </a:solidFill>
              </a:rPr>
              <a:t>Name: Bhumika Patil</a:t>
            </a:r>
          </a:p>
          <a:p>
            <a:r>
              <a:rPr lang="en-US" sz="1400" i="1" dirty="0">
                <a:solidFill>
                  <a:srgbClr val="023558"/>
                </a:solidFill>
              </a:rPr>
              <a:t>Name: Isha Pawar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F0B85-2D0B-8CE2-0C62-378937D4A485}"/>
              </a:ext>
            </a:extLst>
          </p:cNvPr>
          <p:cNvSpPr txBox="1"/>
          <p:nvPr/>
        </p:nvSpPr>
        <p:spPr>
          <a:xfrm>
            <a:off x="2058284" y="5899678"/>
            <a:ext cx="5155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College: MVPS’s </a:t>
            </a:r>
            <a:r>
              <a:rPr lang="en-US" sz="1400" i="1" dirty="0" err="1">
                <a:solidFill>
                  <a:srgbClr val="023558"/>
                </a:solidFill>
              </a:rPr>
              <a:t>Karmaveer</a:t>
            </a:r>
            <a:r>
              <a:rPr lang="en-US" sz="1400" i="1" dirty="0">
                <a:solidFill>
                  <a:srgbClr val="023558"/>
                </a:solidFill>
              </a:rPr>
              <a:t> Adv Baburao Ganpatrao Thakre College of </a:t>
            </a:r>
            <a:r>
              <a:rPr lang="en-US" sz="1400" i="1" dirty="0" err="1">
                <a:solidFill>
                  <a:srgbClr val="023558"/>
                </a:solidFill>
              </a:rPr>
              <a:t>Enineering</a:t>
            </a:r>
            <a:r>
              <a:rPr lang="en-US" sz="1400" i="1" dirty="0">
                <a:solidFill>
                  <a:srgbClr val="023558"/>
                </a:solidFill>
              </a:rPr>
              <a:t>, Nashik.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86482-2ABD-404B-4ABA-CEB96E4AB9C1}"/>
              </a:ext>
            </a:extLst>
          </p:cNvPr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615D82-5CB2-52DA-0B05-5FE8B54D042E}"/>
                </a:ext>
              </a:extLst>
            </p:cNvPr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/>
            </a:prstGeom>
            <a:solidFill>
              <a:srgbClr val="0349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EE186-AA2C-A9BA-A43A-D62A437771F7}"/>
                </a:ext>
              </a:extLst>
            </p:cNvPr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E500"/>
                  </a:solidFill>
                </a:rPr>
                <a:t>Next Gen Employability Program</a:t>
              </a:r>
              <a:endParaRPr lang="en-US" dirty="0">
                <a:solidFill>
                  <a:srgbClr val="FFE5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3A782A-5355-03DB-CA26-A3A3D607DA31}"/>
              </a:ext>
            </a:extLst>
          </p:cNvPr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7C8318-501A-300C-1586-3487E06F1253}"/>
                </a:ext>
              </a:extLst>
            </p:cNvPr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88D108B-EC8D-6B85-5F57-F9D19D5681C4}"/>
                  </a:ext>
                </a:extLst>
              </p:cNvPr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name="adj" fmla="val 10997"/>
                </a:avLst>
              </a:prstGeom>
              <a:solidFill>
                <a:srgbClr val="0349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97845F-F959-88CB-A4ED-3AA0360C1A9D}"/>
                  </a:ext>
                </a:extLst>
              </p:cNvPr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E500"/>
                    </a:solidFill>
                  </a:rPr>
                  <a:t>The content is curated from online/offline resources and used for educational purpose only.</a:t>
                </a:r>
              </a:p>
            </p:txBody>
          </p:sp>
        </p:grpSp>
        <p:pic>
          <p:nvPicPr>
            <p:cNvPr id="8" name="Picture 7" descr="A blue sign with black background&#10;&#10;AI-generated content may be incorrect.">
              <a:extLst>
                <a:ext uri="{FF2B5EF4-FFF2-40B4-BE49-F238E27FC236}">
                  <a16:creationId xmlns:a16="http://schemas.microsoft.com/office/drawing/2014/main" id="{43BB6327-B30A-E013-C8DA-976B9EC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324" t="20721" r="6756" b="23454"/>
            <a:stretch>
              <a:fillRect/>
            </a:stretch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8702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 with a black background&#10;&#10;AI-generated content may be incorrect.">
            <a:extLst>
              <a:ext uri="{FF2B5EF4-FFF2-40B4-BE49-F238E27FC236}">
                <a16:creationId xmlns:a16="http://schemas.microsoft.com/office/drawing/2014/main" id="{F314EBF8-9802-CF1D-801E-63C18C22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0" t="30090" r="9640" b="30270"/>
          <a:stretch>
            <a:fillRect/>
          </a:stretch>
        </p:blipFill>
        <p:spPr>
          <a:xfrm>
            <a:off x="802675" y="1603289"/>
            <a:ext cx="10586649" cy="3907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FEE84B-060E-0646-61C1-61E6884BACC3}"/>
              </a:ext>
            </a:extLst>
          </p:cNvPr>
          <p:cNvSpPr txBox="1"/>
          <p:nvPr/>
        </p:nvSpPr>
        <p:spPr>
          <a:xfrm>
            <a:off x="2761461" y="3170156"/>
            <a:ext cx="70937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5E3FF"/>
                </a:solidFill>
              </a:rPr>
              <a:t>Study Buddy – </a:t>
            </a:r>
            <a:r>
              <a:rPr lang="en-IN" sz="2500" b="1" dirty="0">
                <a:solidFill>
                  <a:srgbClr val="D5E3FF"/>
                </a:solidFill>
              </a:rPr>
              <a:t>AI Powered Study</a:t>
            </a:r>
            <a:r>
              <a:rPr lang="en-US" sz="2500" b="1" dirty="0">
                <a:solidFill>
                  <a:srgbClr val="D5E3FF"/>
                </a:solidFill>
              </a:rPr>
              <a:t> Companion</a:t>
            </a:r>
            <a:br>
              <a:rPr lang="en-US" sz="2500" b="1" dirty="0">
                <a:solidFill>
                  <a:srgbClr val="D5E3FF"/>
                </a:solidFill>
              </a:rPr>
            </a:br>
            <a:endParaRPr lang="en-IN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940F8-47B2-3605-4FFD-62224135AD9A}"/>
              </a:ext>
            </a:extLst>
          </p:cNvPr>
          <p:cNvSpPr txBox="1"/>
          <p:nvPr/>
        </p:nvSpPr>
        <p:spPr>
          <a:xfrm>
            <a:off x="5495063" y="2790664"/>
            <a:ext cx="226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D5E3FF"/>
                </a:solidFill>
              </a:rPr>
              <a:t>Project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1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>
                <a:solidFill>
                  <a:srgbClr val="213163"/>
                </a:solidFill>
              </a:rPr>
              <a:t>Table of Contents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5754564" cy="326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Problem Statement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Introduction / Proposed Solution</a:t>
            </a:r>
            <a:endParaRPr lang="en-US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Features and Functionality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System Architecture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Result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Technology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References</a:t>
            </a:r>
            <a:endParaRPr lang="en-US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C3BD9B49-6271-C92D-48CE-5039440C29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1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1554480"/>
            <a:ext cx="11643359" cy="500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000" b="1" dirty="0">
                <a:solidFill>
                  <a:srgbClr val="023558"/>
                </a:solidFill>
              </a:rPr>
              <a:t>How students study today — and why it fails: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>
                <a:solidFill>
                  <a:srgbClr val="023558"/>
                </a:solidFill>
              </a:rPr>
              <a:t>Traditional Methods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600" dirty="0"/>
              <a:t>Students refer to books or browse the internet</a:t>
            </a:r>
            <a:br>
              <a:rPr lang="en-US" sz="1600" dirty="0"/>
            </a:br>
            <a:r>
              <a:rPr lang="en-US" sz="1600" dirty="0"/>
              <a:t>    Time-consuming, unorganized, no personalization</a:t>
            </a:r>
            <a:br>
              <a:rPr lang="en-US" sz="1600" dirty="0"/>
            </a:br>
            <a:br>
              <a:rPr lang="en-US" sz="2000" dirty="0"/>
            </a:br>
            <a:r>
              <a:rPr lang="en-US" sz="1800" b="1" dirty="0">
                <a:solidFill>
                  <a:srgbClr val="023558"/>
                </a:solidFill>
              </a:rPr>
              <a:t>Using General AI (GPT)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600" dirty="0"/>
              <a:t>AI responses depend on entire chat history, not your specific material</a:t>
            </a:r>
            <a:br>
              <a:rPr lang="en-US" sz="1600" dirty="0"/>
            </a:br>
            <a:r>
              <a:rPr lang="en-US" sz="1600" dirty="0"/>
              <a:t>    File upload limits — can't upload multiple papers at once</a:t>
            </a:r>
            <a:br>
              <a:rPr lang="en-US" sz="1600" dirty="0"/>
            </a:br>
            <a:r>
              <a:rPr lang="en-US" sz="1600" dirty="0"/>
              <a:t>    No structured quiz platform — just raw text responses</a:t>
            </a:r>
            <a:br>
              <a:rPr lang="en-US" sz="1600" dirty="0"/>
            </a:br>
            <a:r>
              <a:rPr lang="en-US" sz="1600" dirty="0"/>
              <a:t>    Have to copy-paste questions manually into separate tools</a:t>
            </a:r>
            <a:br>
              <a:rPr lang="en-US" sz="2000" dirty="0"/>
            </a:br>
            <a:br>
              <a:rPr lang="en-US" sz="2000" dirty="0"/>
            </a:br>
            <a:r>
              <a:rPr lang="en-US" sz="1800" b="1" dirty="0">
                <a:solidFill>
                  <a:srgbClr val="023558"/>
                </a:solidFill>
              </a:rPr>
              <a:t>Finding MCQs &amp; Flashcards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600" dirty="0"/>
              <a:t>Hard to find subject-specific MCQs online</a:t>
            </a:r>
            <a:br>
              <a:rPr lang="en-US" sz="1600" dirty="0"/>
            </a:br>
            <a:r>
              <a:rPr lang="en-US" sz="1600" dirty="0"/>
              <a:t>    Flashcard tools require manual entry</a:t>
            </a:r>
            <a:br>
              <a:rPr lang="en-US" sz="1600" dirty="0"/>
            </a:br>
            <a:r>
              <a:rPr lang="en-US" sz="1600" dirty="0"/>
              <a:t>    No tool connects your PDF → Quiz → Progress in one place</a:t>
            </a:r>
            <a:br>
              <a:rPr lang="en-US" sz="2000" dirty="0"/>
            </a:br>
            <a:br>
              <a:rPr lang="en-IN" sz="2000" b="1" dirty="0">
                <a:solidFill>
                  <a:srgbClr val="213163"/>
                </a:solidFill>
              </a:rPr>
            </a:br>
            <a:br>
              <a:rPr lang="en-IN" sz="2000" b="1" dirty="0">
                <a:solidFill>
                  <a:srgbClr val="213163"/>
                </a:solidFill>
              </a:rPr>
            </a:b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3E6B1-5EC0-ED52-6E10-009BD74863FC}"/>
              </a:ext>
            </a:extLst>
          </p:cNvPr>
          <p:cNvSpPr txBox="1"/>
          <p:nvPr/>
        </p:nvSpPr>
        <p:spPr>
          <a:xfrm>
            <a:off x="274320" y="958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Problem Statement</a:t>
            </a:r>
            <a:endParaRPr lang="en-I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A1CF19-477C-5C17-FA78-34A1ABC1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475BC786-E92C-DE4A-EE1E-7D4D449C21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8" y="865963"/>
            <a:ext cx="11517465" cy="53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400" b="1" dirty="0">
                <a:solidFill>
                  <a:srgbClr val="213163"/>
                </a:solidFill>
              </a:rPr>
              <a:t>Proposed Solution</a:t>
            </a:r>
            <a:br>
              <a:rPr lang="en-IN" sz="2000" b="1" dirty="0">
                <a:solidFill>
                  <a:srgbClr val="213163"/>
                </a:solidFill>
              </a:rPr>
            </a:br>
            <a:br>
              <a:rPr lang="en-US" sz="2000" dirty="0"/>
            </a:b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1;g5fab984687_2_0">
            <a:extLst>
              <a:ext uri="{FF2B5EF4-FFF2-40B4-BE49-F238E27FC236}">
                <a16:creationId xmlns:a16="http://schemas.microsoft.com/office/drawing/2014/main" id="{82D1C0F7-5439-C10A-DAC8-5D31D49B37D4}"/>
              </a:ext>
            </a:extLst>
          </p:cNvPr>
          <p:cNvSpPr txBox="1">
            <a:spLocks/>
          </p:cNvSpPr>
          <p:nvPr/>
        </p:nvSpPr>
        <p:spPr>
          <a:xfrm>
            <a:off x="174709" y="2003882"/>
            <a:ext cx="5342172" cy="510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rgbClr val="023558"/>
                </a:solidFill>
              </a:rPr>
              <a:t>Smart PDF Upload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Upload multiple PDFs under one 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more files anytime after uploading</a:t>
            </a:r>
          </a:p>
          <a:p>
            <a:endParaRPr lang="en-US" sz="1800" b="1" dirty="0">
              <a:solidFill>
                <a:srgbClr val="023558"/>
              </a:solidFill>
            </a:endParaRPr>
          </a:p>
          <a:p>
            <a:r>
              <a:rPr lang="en-US" sz="2000" b="1" dirty="0">
                <a:solidFill>
                  <a:srgbClr val="023558"/>
                </a:solidFill>
              </a:rPr>
              <a:t>Difficulty-Based 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Easy / Medium / Hard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Retry only wrong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Progress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3163"/>
                </a:solidFill>
              </a:rPr>
              <a:t>Score history, streak, avg score</a:t>
            </a:r>
            <a:endParaRPr lang="en-IN" sz="1800" dirty="0">
              <a:solidFill>
                <a:srgbClr val="213163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Google Shape;61;g5fab984687_2_0">
            <a:extLst>
              <a:ext uri="{FF2B5EF4-FFF2-40B4-BE49-F238E27FC236}">
                <a16:creationId xmlns:a16="http://schemas.microsoft.com/office/drawing/2014/main" id="{F586AD9D-EC44-70D7-F269-4D76E0B3CAB5}"/>
              </a:ext>
            </a:extLst>
          </p:cNvPr>
          <p:cNvSpPr txBox="1">
            <a:spLocks/>
          </p:cNvSpPr>
          <p:nvPr/>
        </p:nvSpPr>
        <p:spPr>
          <a:xfrm>
            <a:off x="174708" y="1348563"/>
            <a:ext cx="11517465" cy="53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800"/>
            </a:pPr>
            <a:r>
              <a:rPr lang="en-US" sz="2000" b="1" dirty="0">
                <a:solidFill>
                  <a:srgbClr val="023558"/>
                </a:solidFill>
              </a:rPr>
              <a:t>Study Buddy solves this by</a:t>
            </a:r>
            <a:br>
              <a:rPr lang="en-US" sz="2000" dirty="0"/>
            </a:b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5" name="Google Shape;61;g5fab984687_2_0">
            <a:extLst>
              <a:ext uri="{FF2B5EF4-FFF2-40B4-BE49-F238E27FC236}">
                <a16:creationId xmlns:a16="http://schemas.microsoft.com/office/drawing/2014/main" id="{BB32207D-E633-2238-4AB4-994F91B4F563}"/>
              </a:ext>
            </a:extLst>
          </p:cNvPr>
          <p:cNvSpPr txBox="1">
            <a:spLocks/>
          </p:cNvSpPr>
          <p:nvPr/>
        </p:nvSpPr>
        <p:spPr>
          <a:xfrm>
            <a:off x="5933440" y="2017667"/>
            <a:ext cx="5342172" cy="510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rgbClr val="213163"/>
                </a:solidFill>
              </a:rPr>
              <a:t>AI Content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Custom MCQ &amp; Flashcard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Generate from selected files only</a:t>
            </a:r>
          </a:p>
          <a:p>
            <a:endParaRPr lang="en-US" sz="1400" b="1" dirty="0">
              <a:solidFill>
                <a:srgbClr val="213163"/>
              </a:solidFill>
            </a:endParaRPr>
          </a:p>
          <a:p>
            <a:endParaRPr lang="en-US" sz="14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Chat With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Answers based on YOUR PDFs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Cross-file question support</a:t>
            </a:r>
          </a:p>
          <a:p>
            <a:endParaRPr lang="en-US" sz="1400" b="1" dirty="0">
              <a:solidFill>
                <a:srgbClr val="21316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806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442465-7BF6-ACA2-5CA7-3F74744C5E8B}"/>
              </a:ext>
            </a:extLst>
          </p:cNvPr>
          <p:cNvSpPr txBox="1"/>
          <p:nvPr/>
        </p:nvSpPr>
        <p:spPr>
          <a:xfrm>
            <a:off x="365760" y="9023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Features and Functionality</a:t>
            </a:r>
            <a:endParaRPr lang="en-IN" sz="2000" dirty="0"/>
          </a:p>
        </p:txBody>
      </p: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5D67C32-9B17-2A6F-E2B5-AFA1B0FA22D2}"/>
              </a:ext>
            </a:extLst>
          </p:cNvPr>
          <p:cNvSpPr txBox="1">
            <a:spLocks/>
          </p:cNvSpPr>
          <p:nvPr/>
        </p:nvSpPr>
        <p:spPr>
          <a:xfrm>
            <a:off x="224515" y="1485723"/>
            <a:ext cx="5698765" cy="499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solidFill>
                  <a:srgbClr val="023558"/>
                </a:solidFill>
              </a:rPr>
              <a:t> Core Features</a:t>
            </a:r>
            <a:endParaRPr lang="en-IN" sz="1800" dirty="0">
              <a:solidFill>
                <a:srgbClr val="0235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Multi-PDF upload under one 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 no. of MCQ &amp; Flashcard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Difficulty-based quiz (Easy / Medium / Hard)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Retry wrong questions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Correct answers + explanations revealed after quiz</a:t>
            </a:r>
          </a:p>
          <a:p>
            <a:br>
              <a:rPr lang="en-IN" sz="1800" dirty="0"/>
            </a:br>
            <a:endParaRPr lang="en-IN" sz="1800" dirty="0"/>
          </a:p>
          <a:p>
            <a:r>
              <a:rPr lang="en-IN" sz="1800" b="1" dirty="0">
                <a:solidFill>
                  <a:srgbClr val="023558"/>
                </a:solidFill>
              </a:rPr>
              <a:t>AI Integration</a:t>
            </a:r>
            <a:endParaRPr lang="en-IN" sz="1800" dirty="0">
              <a:solidFill>
                <a:srgbClr val="0235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Groq</a:t>
            </a:r>
            <a:r>
              <a:rPr lang="en-IN" sz="1600" dirty="0"/>
              <a:t> API — Llama 3.3 70B (free, fast)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Generates MCQs, Flashcards from YOUR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Chat answers strictly based on uploaded PDFs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Cross-file question answering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Full chat history saved per material</a:t>
            </a:r>
          </a:p>
          <a:p>
            <a:br>
              <a:rPr lang="en-IN" sz="1800" dirty="0"/>
            </a:br>
            <a:endParaRPr lang="en-IN" sz="1800" dirty="0"/>
          </a:p>
        </p:txBody>
      </p:sp>
      <p:sp>
        <p:nvSpPr>
          <p:cNvPr id="5" name="Google Shape;61;g5fab984687_2_0">
            <a:extLst>
              <a:ext uri="{FF2B5EF4-FFF2-40B4-BE49-F238E27FC236}">
                <a16:creationId xmlns:a16="http://schemas.microsoft.com/office/drawing/2014/main" id="{0360308A-EAB1-E2B5-8ACF-1DB4007C40B3}"/>
              </a:ext>
            </a:extLst>
          </p:cNvPr>
          <p:cNvSpPr txBox="1">
            <a:spLocks/>
          </p:cNvSpPr>
          <p:nvPr/>
        </p:nvSpPr>
        <p:spPr>
          <a:xfrm>
            <a:off x="5642252" y="1363970"/>
            <a:ext cx="5698765" cy="499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solidFill>
                  <a:srgbClr val="023558"/>
                </a:solidFill>
              </a:rPr>
              <a:t>Security</a:t>
            </a:r>
            <a:endParaRPr lang="en-IN" sz="1800" dirty="0">
              <a:solidFill>
                <a:srgbClr val="02355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@login_required on every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Users can only access their own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Password — min 8 chars, letter, number, special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API keys stored in .env file</a:t>
            </a:r>
          </a:p>
          <a:p>
            <a:endParaRPr lang="en-IN" sz="1600" dirty="0"/>
          </a:p>
          <a:p>
            <a:br>
              <a:rPr lang="en-IN" sz="1800" dirty="0"/>
            </a:br>
            <a:r>
              <a:rPr lang="en-IN" sz="1800" b="1" dirty="0">
                <a:solidFill>
                  <a:srgbClr val="023558"/>
                </a:solidFill>
              </a:rPr>
              <a:t>Database Design</a:t>
            </a:r>
            <a:endParaRPr lang="en-IN" sz="1800" dirty="0">
              <a:solidFill>
                <a:srgbClr val="023558"/>
              </a:solidFill>
            </a:endParaRPr>
          </a:p>
          <a:p>
            <a:r>
              <a:rPr lang="en-IN" sz="1600" dirty="0"/>
              <a:t>User</a:t>
            </a:r>
          </a:p>
          <a:p>
            <a:r>
              <a:rPr lang="en-IN" sz="1600" dirty="0"/>
              <a:t>       </a:t>
            </a:r>
            <a:r>
              <a:rPr lang="en-IN" sz="1600" dirty="0" err="1"/>
              <a:t>StudyMaterial</a:t>
            </a:r>
            <a:r>
              <a:rPr lang="en-IN" sz="1600" dirty="0"/>
              <a:t> (title, subject)</a:t>
            </a:r>
          </a:p>
          <a:p>
            <a:r>
              <a:rPr lang="en-IN" sz="1600" dirty="0"/>
              <a:t>             </a:t>
            </a:r>
            <a:r>
              <a:rPr lang="en-IN" sz="1600" dirty="0" err="1"/>
              <a:t>MaterialFile</a:t>
            </a:r>
            <a:r>
              <a:rPr lang="en-IN" sz="1600" dirty="0"/>
              <a:t> (PDF files)</a:t>
            </a:r>
          </a:p>
          <a:p>
            <a:r>
              <a:rPr lang="en-IN" sz="1600" dirty="0"/>
              <a:t>             Question (MCQ, options, difficulty)</a:t>
            </a:r>
          </a:p>
          <a:p>
            <a:r>
              <a:rPr lang="en-IN" sz="1600" dirty="0"/>
              <a:t>             Flashcard (front, back)</a:t>
            </a:r>
          </a:p>
          <a:p>
            <a:r>
              <a:rPr lang="en-IN" sz="1600" dirty="0"/>
              <a:t>             </a:t>
            </a:r>
            <a:r>
              <a:rPr lang="en-IN" sz="1600" dirty="0" err="1"/>
              <a:t>ChatMessage</a:t>
            </a:r>
            <a:r>
              <a:rPr lang="en-IN" sz="1600" dirty="0"/>
              <a:t> (role, content, timestamp)</a:t>
            </a:r>
          </a:p>
          <a:p>
            <a:r>
              <a:rPr lang="en-IN" sz="1600" dirty="0"/>
              <a:t> </a:t>
            </a:r>
          </a:p>
          <a:p>
            <a:r>
              <a:rPr lang="en-IN" sz="1600" dirty="0"/>
              <a:t>       </a:t>
            </a:r>
            <a:r>
              <a:rPr lang="en-IN" sz="1600" dirty="0" err="1"/>
              <a:t>QuizAttempt</a:t>
            </a:r>
            <a:r>
              <a:rPr lang="en-IN" sz="1600" dirty="0"/>
              <a:t> (score, total, date)</a:t>
            </a:r>
          </a:p>
          <a:p>
            <a:r>
              <a:rPr lang="en-IN" sz="1600" dirty="0"/>
              <a:t>             </a:t>
            </a:r>
            <a:r>
              <a:rPr lang="en-IN" sz="1600" dirty="0" err="1"/>
              <a:t>AttemptAnswer</a:t>
            </a:r>
            <a:r>
              <a:rPr lang="en-IN" sz="1600" dirty="0"/>
              <a:t> (question, answer, </a:t>
            </a:r>
            <a:r>
              <a:rPr lang="en-IN" sz="1600" dirty="0" err="1"/>
              <a:t>is_correct</a:t>
            </a:r>
            <a:r>
              <a:rPr lang="en-IN" sz="1600" dirty="0"/>
              <a:t>)</a:t>
            </a:r>
          </a:p>
          <a:p>
            <a:br>
              <a:rPr lang="en-IN" sz="1800" dirty="0"/>
            </a:br>
            <a:endParaRPr lang="en-IN" sz="1800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812A942-A006-5508-FEA8-1D1FE8D73E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32069" y="4674781"/>
            <a:ext cx="1654810" cy="273052"/>
          </a:xfrm>
          <a:prstGeom prst="bentConnector3">
            <a:avLst>
              <a:gd name="adj1" fmla="val 10019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7FACBBD-2B68-9D55-A108-6AEBB41815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90487" y="4569894"/>
            <a:ext cx="899340" cy="243206"/>
          </a:xfrm>
          <a:prstGeom prst="bentConnector3">
            <a:avLst>
              <a:gd name="adj1" fmla="val 9914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31A20A-792F-2823-2377-BBF55D9211B7}"/>
              </a:ext>
            </a:extLst>
          </p:cNvPr>
          <p:cNvCxnSpPr>
            <a:cxnSpLocks/>
          </p:cNvCxnSpPr>
          <p:nvPr/>
        </p:nvCxnSpPr>
        <p:spPr>
          <a:xfrm>
            <a:off x="5827319" y="4139125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1DB21B-33BB-C9A4-7497-C3D9FC824E50}"/>
              </a:ext>
            </a:extLst>
          </p:cNvPr>
          <p:cNvCxnSpPr>
            <a:cxnSpLocks/>
          </p:cNvCxnSpPr>
          <p:nvPr/>
        </p:nvCxnSpPr>
        <p:spPr>
          <a:xfrm>
            <a:off x="6240697" y="4623121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D14C93-27F0-307D-695B-3694D38B3FD9}"/>
              </a:ext>
            </a:extLst>
          </p:cNvPr>
          <p:cNvCxnSpPr>
            <a:cxnSpLocks/>
          </p:cNvCxnSpPr>
          <p:nvPr/>
        </p:nvCxnSpPr>
        <p:spPr>
          <a:xfrm>
            <a:off x="6218554" y="4876004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D25F49-837E-F30A-6448-6C8B966D7BE2}"/>
              </a:ext>
            </a:extLst>
          </p:cNvPr>
          <p:cNvCxnSpPr>
            <a:cxnSpLocks/>
          </p:cNvCxnSpPr>
          <p:nvPr/>
        </p:nvCxnSpPr>
        <p:spPr>
          <a:xfrm>
            <a:off x="6226922" y="4385310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649633D-1D24-1117-9C07-F8CBB8E95708}"/>
              </a:ext>
            </a:extLst>
          </p:cNvPr>
          <p:cNvCxnSpPr>
            <a:cxnSpLocks/>
          </p:cNvCxnSpPr>
          <p:nvPr/>
        </p:nvCxnSpPr>
        <p:spPr>
          <a:xfrm>
            <a:off x="6232335" y="5698510"/>
            <a:ext cx="236220" cy="153669"/>
          </a:xfrm>
          <a:prstGeom prst="bentConnector3">
            <a:avLst>
              <a:gd name="adj1" fmla="val 161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53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AC4609-5DE7-8F5B-60DB-8BB26CE77877}"/>
              </a:ext>
            </a:extLst>
          </p:cNvPr>
          <p:cNvSpPr txBox="1"/>
          <p:nvPr/>
        </p:nvSpPr>
        <p:spPr>
          <a:xfrm>
            <a:off x="133142" y="739466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System</a:t>
            </a:r>
            <a:r>
              <a:rPr lang="en-IN" sz="2000" b="1" dirty="0">
                <a:solidFill>
                  <a:srgbClr val="213163"/>
                </a:solidFill>
              </a:rPr>
              <a:t> </a:t>
            </a:r>
            <a:r>
              <a:rPr lang="en-IN" sz="2400" b="1" dirty="0">
                <a:solidFill>
                  <a:srgbClr val="213163"/>
                </a:solidFill>
              </a:rPr>
              <a:t>Architecture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358D5-2B24-1819-D3C1-A371C14A0E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5" b="20169"/>
          <a:stretch>
            <a:fillRect/>
          </a:stretch>
        </p:blipFill>
        <p:spPr>
          <a:xfrm>
            <a:off x="3693575" y="831402"/>
            <a:ext cx="5067782" cy="57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9551D4-E8CD-1F98-E1DD-8E9E9FE6C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05" y="1243823"/>
            <a:ext cx="4761166" cy="2556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00398B-BDEC-F291-A805-07EC784D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56" y="4222968"/>
            <a:ext cx="4477281" cy="2178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D01E40-A847-5EFF-6F13-BAB25E883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771" y="3771039"/>
            <a:ext cx="3476752" cy="2571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B16BA-81B2-7ED1-1172-5283DF056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20" y="1465827"/>
            <a:ext cx="2973148" cy="2164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286613-7B66-E866-6190-727C664FC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120" y="3858283"/>
            <a:ext cx="3755247" cy="26784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A70CA8-EDBD-7BED-376F-74BA684388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6292" y="1244812"/>
            <a:ext cx="2872828" cy="24332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880C01-AD21-FEB5-3ED1-CDE4E6D1D92A}"/>
              </a:ext>
            </a:extLst>
          </p:cNvPr>
          <p:cNvSpPr txBox="1"/>
          <p:nvPr/>
        </p:nvSpPr>
        <p:spPr>
          <a:xfrm>
            <a:off x="352256" y="7507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Results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558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D828F6-D11A-004C-6B1C-7342E3C2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01B87DF3-C5CE-63DD-4007-1F1C71D372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400" b="1" dirty="0">
                <a:solidFill>
                  <a:srgbClr val="213163"/>
                </a:solidFill>
              </a:rPr>
              <a:t>Technology Stack</a:t>
            </a:r>
          </a:p>
        </p:txBody>
      </p:sp>
      <p:sp>
        <p:nvSpPr>
          <p:cNvPr id="2" name="Google Shape;61;g5fab984687_2_0">
            <a:extLst>
              <a:ext uri="{FF2B5EF4-FFF2-40B4-BE49-F238E27FC236}">
                <a16:creationId xmlns:a16="http://schemas.microsoft.com/office/drawing/2014/main" id="{821C836B-22BA-038A-0590-91E5811C168C}"/>
              </a:ext>
            </a:extLst>
          </p:cNvPr>
          <p:cNvSpPr txBox="1">
            <a:spLocks/>
          </p:cNvSpPr>
          <p:nvPr/>
        </p:nvSpPr>
        <p:spPr>
          <a:xfrm>
            <a:off x="174708" y="1394282"/>
            <a:ext cx="11773451" cy="504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rgbClr val="023558"/>
                </a:solidFill>
              </a:rPr>
              <a:t>Backend:</a:t>
            </a:r>
          </a:p>
          <a:p>
            <a:r>
              <a:rPr lang="en-IN" sz="2000" dirty="0"/>
              <a:t> </a:t>
            </a:r>
            <a:r>
              <a:rPr lang="en-IN" sz="1800" dirty="0"/>
              <a:t>Python + Django → Web server, URL routing, business logic, authentication</a:t>
            </a:r>
          </a:p>
          <a:p>
            <a:endParaRPr lang="en-IN" sz="1800" dirty="0"/>
          </a:p>
          <a:p>
            <a:r>
              <a:rPr lang="en-IN" sz="2000" b="1" dirty="0">
                <a:solidFill>
                  <a:srgbClr val="023558"/>
                </a:solidFill>
              </a:rPr>
              <a:t>Database: </a:t>
            </a:r>
          </a:p>
          <a:p>
            <a:r>
              <a:rPr lang="en-IN" sz="1800" dirty="0"/>
              <a:t>SQLite → Stores users, study materials, questions, scores, chat history</a:t>
            </a:r>
          </a:p>
          <a:p>
            <a:endParaRPr lang="en-IN" sz="2000" b="1" dirty="0">
              <a:solidFill>
                <a:srgbClr val="023558"/>
              </a:solidFill>
            </a:endParaRPr>
          </a:p>
          <a:p>
            <a:r>
              <a:rPr lang="en-IN" sz="2000" b="1" dirty="0">
                <a:solidFill>
                  <a:srgbClr val="023558"/>
                </a:solidFill>
              </a:rPr>
              <a:t>Artificial Intelligence:</a:t>
            </a:r>
          </a:p>
          <a:p>
            <a:r>
              <a:rPr lang="en-IN" sz="2000" dirty="0"/>
              <a:t> </a:t>
            </a:r>
            <a:r>
              <a:rPr lang="en-IN" sz="1800" dirty="0" err="1"/>
              <a:t>Groq</a:t>
            </a:r>
            <a:r>
              <a:rPr lang="en-IN" sz="1800" dirty="0"/>
              <a:t> API — Llama 3.3 70B → Generates MCQs, Flashcards, answers chat questions</a:t>
            </a:r>
          </a:p>
          <a:p>
            <a:endParaRPr lang="en-IN" sz="1800" b="1" dirty="0"/>
          </a:p>
          <a:p>
            <a:r>
              <a:rPr lang="en-IN" sz="1800" b="1" dirty="0">
                <a:solidFill>
                  <a:srgbClr val="023558"/>
                </a:solidFill>
              </a:rPr>
              <a:t>PDF Processing:</a:t>
            </a:r>
          </a:p>
          <a:p>
            <a:r>
              <a:rPr lang="en-IN" sz="2000" dirty="0"/>
              <a:t> </a:t>
            </a:r>
            <a:r>
              <a:rPr lang="en-IN" sz="1800" dirty="0" err="1"/>
              <a:t>PyMuPDF</a:t>
            </a:r>
            <a:r>
              <a:rPr lang="en-IN" sz="1800" dirty="0"/>
              <a:t> (</a:t>
            </a:r>
            <a:r>
              <a:rPr lang="en-IN" sz="1800" dirty="0" err="1"/>
              <a:t>fitz</a:t>
            </a:r>
            <a:r>
              <a:rPr lang="en-IN" sz="1800" dirty="0"/>
              <a:t>) → Extracts and combines text from uploaded PDF files</a:t>
            </a:r>
          </a:p>
          <a:p>
            <a:endParaRPr lang="en-IN" sz="2000" b="1" dirty="0"/>
          </a:p>
          <a:p>
            <a:r>
              <a:rPr lang="en-IN" sz="2000" b="1" dirty="0">
                <a:solidFill>
                  <a:srgbClr val="023558"/>
                </a:solidFill>
              </a:rPr>
              <a:t>Frontend: </a:t>
            </a:r>
          </a:p>
          <a:p>
            <a:r>
              <a:rPr lang="en-IN" sz="1800"/>
              <a:t>HTML, </a:t>
            </a:r>
            <a:r>
              <a:rPr lang="en-IN" sz="1800" dirty="0"/>
              <a:t>CSS</a:t>
            </a:r>
            <a:r>
              <a:rPr lang="en-IN" sz="1800"/>
              <a:t>, Bootstrap, </a:t>
            </a:r>
            <a:r>
              <a:rPr lang="en-IN" sz="1800" dirty="0"/>
              <a:t>JavaScript → Responsive UI, flashcard animations, quiz navigation, chat interface</a:t>
            </a:r>
          </a:p>
          <a:p>
            <a:pPr>
              <a:buSzPts val="2800"/>
            </a:pPr>
            <a:endParaRPr lang="en-IN" sz="2000" b="1" dirty="0">
              <a:solidFill>
                <a:srgbClr val="21316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23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0CFA53-CCA4-D4E2-FCC5-6726C969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696FB24-3D2E-A463-EE53-5191611540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400" b="1" dirty="0">
                <a:solidFill>
                  <a:srgbClr val="213163"/>
                </a:solidFill>
              </a:rPr>
              <a:t>R</a:t>
            </a:r>
            <a:r>
              <a:rPr lang="en-IN" sz="2400" b="1" dirty="0" err="1">
                <a:solidFill>
                  <a:srgbClr val="213163"/>
                </a:solidFill>
              </a:rPr>
              <a:t>eferences</a:t>
            </a:r>
            <a:br>
              <a:rPr lang="en-US" sz="2400" dirty="0"/>
            </a:br>
            <a:endParaRPr lang="en-IN" sz="2400" b="1" dirty="0">
              <a:solidFill>
                <a:srgbClr val="213163"/>
              </a:solidFill>
            </a:endParaRPr>
          </a:p>
        </p:txBody>
      </p:sp>
      <p:sp>
        <p:nvSpPr>
          <p:cNvPr id="5" name="Google Shape;61;g5fab984687_2_0">
            <a:extLst>
              <a:ext uri="{FF2B5EF4-FFF2-40B4-BE49-F238E27FC236}">
                <a16:creationId xmlns:a16="http://schemas.microsoft.com/office/drawing/2014/main" id="{D54D2A79-BCD0-4256-1CDD-F8F5D7C2B7D3}"/>
              </a:ext>
            </a:extLst>
          </p:cNvPr>
          <p:cNvSpPr txBox="1">
            <a:spLocks/>
          </p:cNvSpPr>
          <p:nvPr/>
        </p:nvSpPr>
        <p:spPr>
          <a:xfrm>
            <a:off x="418549" y="1374185"/>
            <a:ext cx="11773451" cy="504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Django Documentation — </a:t>
            </a:r>
            <a:r>
              <a:rPr lang="en-IN" sz="2000" i="1" dirty="0"/>
              <a:t>The Web Framework for Perfectionists with Deadlines</a:t>
            </a:r>
            <a:r>
              <a:rPr lang="en-IN" sz="2000" dirty="0"/>
              <a:t> </a:t>
            </a:r>
            <a:r>
              <a:rPr lang="en-IN" sz="2000" dirty="0">
                <a:hlinkClick r:id="rId4"/>
              </a:rPr>
              <a:t>https://docs.djangoproject.com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Groq</a:t>
            </a:r>
            <a:r>
              <a:rPr lang="en-IN" sz="2000" dirty="0"/>
              <a:t> API Documentation — </a:t>
            </a:r>
            <a:r>
              <a:rPr lang="en-IN" sz="2000" i="1" dirty="0"/>
              <a:t>Llama 3.3 70B Fast AI Inference</a:t>
            </a:r>
            <a:r>
              <a:rPr lang="en-IN" sz="2000" dirty="0"/>
              <a:t> </a:t>
            </a:r>
            <a:r>
              <a:rPr lang="en-IN" sz="2000" dirty="0">
                <a:hlinkClick r:id="rId5"/>
              </a:rPr>
              <a:t>https://console.groq.com/docs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PyMuPDF</a:t>
            </a:r>
            <a:r>
              <a:rPr lang="en-IN" sz="2000" dirty="0"/>
              <a:t> Documentation — </a:t>
            </a:r>
            <a:r>
              <a:rPr lang="en-IN" sz="2000" i="1" dirty="0"/>
              <a:t>PDF Text Extraction Library</a:t>
            </a:r>
            <a:r>
              <a:rPr lang="en-IN" sz="2000" dirty="0"/>
              <a:t> </a:t>
            </a:r>
            <a:r>
              <a:rPr lang="en-IN" sz="2000" dirty="0">
                <a:hlinkClick r:id="rId6"/>
              </a:rPr>
              <a:t>https://pymupdf.readthedocs.io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Python Software Foundation — </a:t>
            </a:r>
            <a:r>
              <a:rPr lang="en-IN" sz="2000" i="1" dirty="0"/>
              <a:t>Python 3.11 Documentation</a:t>
            </a:r>
            <a:r>
              <a:rPr lang="en-IN" sz="2000" dirty="0"/>
              <a:t> </a:t>
            </a:r>
            <a:r>
              <a:rPr lang="en-IN" sz="2000" dirty="0">
                <a:hlinkClick r:id="rId7"/>
              </a:rPr>
              <a:t>https://docs.python.org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SQLite Documentation — </a:t>
            </a:r>
            <a:r>
              <a:rPr lang="en-IN" sz="2000" i="1" dirty="0"/>
              <a:t>Lightweight Database Engine</a:t>
            </a:r>
            <a:r>
              <a:rPr lang="en-IN" sz="2000" dirty="0"/>
              <a:t> </a:t>
            </a:r>
            <a:r>
              <a:rPr lang="en-IN" sz="2000" dirty="0">
                <a:hlinkClick r:id="rId8"/>
              </a:rPr>
              <a:t>https://www.sqlite.org</a:t>
            </a:r>
            <a:endParaRPr lang="en-IN" sz="2000" dirty="0"/>
          </a:p>
          <a:p>
            <a:pPr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</a:pPr>
            <a:endParaRPr lang="en-US" sz="1800" dirty="0"/>
          </a:p>
          <a:p>
            <a:endParaRPr lang="en-IN" sz="1800" dirty="0"/>
          </a:p>
          <a:p>
            <a:pPr>
              <a:buSzPts val="2800"/>
            </a:pPr>
            <a:endParaRPr lang="en-IN" sz="2000" b="1" dirty="0">
              <a:solidFill>
                <a:srgbClr val="21316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497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</TotalTime>
  <Words>1307</Words>
  <Application>Microsoft Office PowerPoint</Application>
  <PresentationFormat>Widescreen</PresentationFormat>
  <Paragraphs>242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Narrow</vt:lpstr>
      <vt:lpstr>Arial</vt:lpstr>
      <vt:lpstr>Calibri</vt:lpstr>
      <vt:lpstr>Times New Roman</vt:lpstr>
      <vt:lpstr>Simple Light</vt:lpstr>
      <vt:lpstr>PowerPoint Presentation</vt:lpstr>
      <vt:lpstr>PowerPoint Presentation</vt:lpstr>
      <vt:lpstr>PowerPoint Presentation</vt:lpstr>
      <vt:lpstr>Table of Contents</vt:lpstr>
      <vt:lpstr>How students study today — and why it fails:  Traditional Methods    Students refer to books or browse the internet     Time-consuming, unorganized, no personalization  Using General AI (GPT)    AI responses depend on entire chat history, not your specific material     File upload limits — can't upload multiple papers at once     No structured quiz platform — just raw text responses     Have to copy-paste questions manually into separate tools  Finding MCQs &amp; Flashcards    Hard to find subject-specific MCQs online     Flashcard tools require manual entry     No tool connects your PDF → Quiz → Progress in one place   </vt:lpstr>
      <vt:lpstr>Proposed Solution  </vt:lpstr>
      <vt:lpstr>PowerPoint Presentation</vt:lpstr>
      <vt:lpstr>PowerPoint Presentation</vt:lpstr>
      <vt:lpstr>PowerPoint Presentation</vt:lpstr>
      <vt:lpstr>Technology Stack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Helvin Mg</dc:creator>
  <cp:lastModifiedBy>Ashvini Patil</cp:lastModifiedBy>
  <cp:revision>24</cp:revision>
  <dcterms:modified xsi:type="dcterms:W3CDTF">2026-02-25T10:07:26Z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ADA14AB9-6E05-4AF1-84FB-ACE67E38F4B9</vt:lpwstr>
  </property>
  <property fmtid="{D5CDD505-2E9C-101B-9397-08002B2CF9AE}" pid="4" name="ArticulatePath">
    <vt:lpwstr>https://edunetfoundationorg-my.sharepoint.com/personal/kaisar_edunetfoundation_org/Documents/Beutified ppt/EY/Student showcase 2025/Master Class 2 - UI_UX Design Principles</vt:lpwstr>
  </property>
</Properties>
</file>